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2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4" r:id="rId21"/>
    <p:sldId id="275" r:id="rId22"/>
    <p:sldId id="276" r:id="rId23"/>
    <p:sldId id="295" r:id="rId24"/>
    <p:sldId id="296" r:id="rId25"/>
    <p:sldId id="297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6" r:id="rId35"/>
    <p:sldId id="285" r:id="rId36"/>
    <p:sldId id="298" r:id="rId37"/>
    <p:sldId id="287" r:id="rId38"/>
    <p:sldId id="288" r:id="rId39"/>
    <p:sldId id="289" r:id="rId40"/>
    <p:sldId id="290" r:id="rId41"/>
    <p:sldId id="299" r:id="rId42"/>
    <p:sldId id="300" r:id="rId43"/>
    <p:sldId id="291" r:id="rId44"/>
    <p:sldId id="292" r:id="rId45"/>
    <p:sldId id="293" r:id="rId46"/>
  </p:sldIdLst>
  <p:sldSz cx="9144000" cy="5143500" type="screen16x9"/>
  <p:notesSz cx="7559675" cy="10691813"/>
  <p:embeddedFontLst>
    <p:embeddedFont>
      <p:font typeface="Average" panose="020B0604020202020204" charset="0"/>
      <p:regular r:id="rId47"/>
    </p:embeddedFont>
    <p:embeddedFont>
      <p:font typeface="Oswald" panose="00000500000000000000" pitchFamily="2" charset="0"/>
      <p:regular r:id="rId48"/>
      <p:bold r:id="rId49"/>
    </p:embeddedFont>
    <p:embeddedFont>
      <p:font typeface="Segoe UI" panose="020B0502040204020203" pitchFamily="34" charset="0"/>
      <p:regular r:id="rId50"/>
      <p:bold r:id="rId51"/>
      <p:italic r:id="rId52"/>
      <p:boldItalic r:id="rId5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7.fnt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2.fntdata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5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3.fntdata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57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  <a:tabLst>
                <a:tab pos="0" algn="l"/>
              </a:tabLst>
            </a:pP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7960" cy="341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EFE17F91-C214-4A4B-A6B4-96450D59506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57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7960" cy="34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sldNum" idx="2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FDEB106-0EA2-4457-9FE3-1CB95E9A7F78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57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7960" cy="34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sldNum" idx="3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BB1882F-CF23-4A93-854D-6A6700FFACD6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57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7960" cy="34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sldNum" idx="4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B548F2-9F2C-4F43-B730-778B0921CE00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57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7960" cy="34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sldNum" idx="5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4E08E9-AF53-4E5D-B12A-46943088D302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71400" y="2141280"/>
            <a:ext cx="7849800" cy="85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sldNum" idx="6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0B070D-F99D-412D-BD73-1A57C1D7FEEC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57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7440" cy="34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049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049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049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049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049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049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7440" cy="34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049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049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049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049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049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049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sldNum" idx="7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39CE007-5ABA-4135-B0BE-CFC40C30A2EB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57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sldNum" idx="8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1D70D63-07F4-4D4F-9A4E-6D7296B8D0B7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5480" cy="75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5480" cy="317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049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049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049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049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049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049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sldNum" idx="9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32C3C73-742E-4FCD-9848-9CFD7B75F181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90320" y="526320"/>
            <a:ext cx="6224760" cy="4088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sldNum" idx="10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B5CF97-8B55-4511-B0B6-53E74D26F470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40;p14"/>
          <p:cNvSpPr/>
          <p:nvPr/>
        </p:nvSpPr>
        <p:spPr>
          <a:xfrm>
            <a:off x="4572000" y="0"/>
            <a:ext cx="4569480" cy="5141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" name="Google Shape;41;p14"/>
          <p:cNvCxnSpPr/>
          <p:nvPr/>
        </p:nvCxnSpPr>
        <p:spPr>
          <a:xfrm>
            <a:off x="5029560" y="4495320"/>
            <a:ext cx="470880" cy="2520"/>
          </a:xfrm>
          <a:prstGeom prst="straightConnector1">
            <a:avLst/>
          </a:prstGeom>
          <a:ln w="19050">
            <a:solidFill>
              <a:srgbClr val="37474F"/>
            </a:solidFill>
            <a:round/>
          </a:ln>
        </p:spPr>
      </p:cxn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65680" y="1081440"/>
            <a:ext cx="4042800" cy="1707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939560" y="724320"/>
            <a:ext cx="3834360" cy="3692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sldNum" idx="11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39333E2-9836-4970-91C6-082FECE95EE3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6160" cy="602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ldNum" idx="12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D0D93D0-47FA-4295-9173-3E74032D7933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255320"/>
            <a:ext cx="8517960" cy="1888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2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xx%</a:t>
            </a:r>
            <a:endParaRPr lang="pt-BR" sz="12000" b="0" u="none" strike="noStrike">
              <a:solidFill>
                <a:schemeClr val="dk1"/>
              </a:solidFill>
              <a:effectLst/>
              <a:uFillTx/>
              <a:latin typeface="Oswald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11760" y="3228480"/>
            <a:ext cx="8517960" cy="1298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sldNum" idx="13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2F9DD4F-A607-4C46-9D17-879AD6EDDDC5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Num" idx="14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DD6621A-2849-4C5E-9D49-277EFAD1C33D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57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7960" cy="34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sldNum" idx="15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4123351-26BB-4096-A253-BF11FA849D03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57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7960" cy="34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16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5B57769-D6B4-4CFF-AB20-809781DB2F11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57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7960" cy="34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sldNum" idx="17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107AABD-EB28-4411-8729-8C6C4674FA54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57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7960" cy="34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sldNum" idx="18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1B17DA9-D22C-40D0-BCF1-4C18275EB15B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57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7960" cy="34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sldNum" idx="19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3C2AE2E-6478-48A3-AEBB-AA56C68860DA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;p7"/>
          <p:cNvGrpSpPr/>
          <p:nvPr/>
        </p:nvGrpSpPr>
        <p:grpSpPr>
          <a:xfrm>
            <a:off x="4350240" y="2855520"/>
            <a:ext cx="441000" cy="102960"/>
            <a:chOff x="4350240" y="2855520"/>
            <a:chExt cx="441000" cy="102960"/>
          </a:xfrm>
        </p:grpSpPr>
        <p:sp>
          <p:nvSpPr>
            <p:cNvPr id="3" name="Google Shape;11;p7"/>
            <p:cNvSpPr/>
            <p:nvPr/>
          </p:nvSpPr>
          <p:spPr>
            <a:xfrm>
              <a:off x="4519080" y="2855520"/>
              <a:ext cx="102960" cy="10296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1480" tIns="36360" rIns="51480" bIns="36360" anchor="ctr">
              <a:noAutofit/>
            </a:bodyPr>
            <a:lstStyle/>
            <a:p>
              <a:endPara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Google Shape;12;p7"/>
            <p:cNvSpPr/>
            <p:nvPr/>
          </p:nvSpPr>
          <p:spPr>
            <a:xfrm>
              <a:off x="4688280" y="2855520"/>
              <a:ext cx="102960" cy="10296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1480" tIns="36360" rIns="51480" bIns="36360" anchor="ctr">
              <a:noAutofit/>
            </a:bodyPr>
            <a:lstStyle/>
            <a:p>
              <a:endPara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Google Shape;13;p7"/>
            <p:cNvSpPr/>
            <p:nvPr/>
          </p:nvSpPr>
          <p:spPr>
            <a:xfrm>
              <a:off x="4350240" y="2855520"/>
              <a:ext cx="102960" cy="10296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1480" tIns="36360" rIns="51480" bIns="36360" anchor="ctr">
              <a:noAutofit/>
            </a:bodyPr>
            <a:lstStyle/>
            <a:p>
              <a:endPara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11760" y="364320"/>
            <a:ext cx="8517960" cy="73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pt-BR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pt-BR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sldNum" idx="1"/>
          </p:nvPr>
        </p:nvSpPr>
        <p:spPr>
          <a:xfrm>
            <a:off x="8490240" y="4681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6DC3D2-ED0F-4B08-8CB0-2B0BDE5BC914}" type="slidenum"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‹nº›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6;p2"/>
          <p:cNvSpPr/>
          <p:nvPr/>
        </p:nvSpPr>
        <p:spPr>
          <a:xfrm>
            <a:off x="164880" y="428760"/>
            <a:ext cx="8714520" cy="148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4000" b="0" u="none" strike="noStrike">
                <a:solidFill>
                  <a:srgbClr val="FFFFFF"/>
                </a:solidFill>
                <a:effectLst/>
                <a:uFillTx/>
                <a:latin typeface="Oswald"/>
                <a:ea typeface="Oswald"/>
              </a:rPr>
              <a:t>OWASP no Design de Software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pt-BR" sz="3600" b="0" u="none" strike="noStrike">
                <a:solidFill>
                  <a:srgbClr val="FFFFFF"/>
                </a:solidFill>
                <a:effectLst/>
                <a:uFillTx/>
                <a:latin typeface="Oswald"/>
                <a:ea typeface="Oswald"/>
              </a:rPr>
              <a:t>Evitando vulnerabilidades antes do deploy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67;p2"/>
          <p:cNvSpPr/>
          <p:nvPr/>
        </p:nvSpPr>
        <p:spPr>
          <a:xfrm>
            <a:off x="212760" y="2257560"/>
            <a:ext cx="8624160" cy="1486800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Oswald"/>
                <a:ea typeface="Oswald"/>
              </a:rPr>
              <a:t>Renato Groffe</a:t>
            </a:r>
            <a:br>
              <a:rPr sz="2400"/>
            </a:b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Oswald"/>
                <a:ea typeface="Oswald"/>
              </a:rPr>
              <a:t>Microsoft MVP, Docker Captain, Grafana Champion, APIsec U Ambassador, MTAC</a:t>
            </a:r>
            <a:br>
              <a:rPr sz="2000"/>
            </a:b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0" algn="l"/>
              </a:tabLst>
            </a:pP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67;p2"/>
          <p:cNvSpPr/>
          <p:nvPr/>
        </p:nvSpPr>
        <p:spPr>
          <a:xfrm>
            <a:off x="209880" y="3060720"/>
            <a:ext cx="8624160" cy="148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Renato Groffe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11760" y="1310400"/>
            <a:ext cx="851796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9999"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en-US" sz="17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Microsoft Most Valuable Professional (MVP)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en-US" sz="17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Docker Captain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en-US" sz="17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Grafana Champion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en-US" sz="17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APISEC U Ambassador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en-US" sz="17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Multi-Plataform Technical Audience Contributor (MTAC)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en-US" sz="17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Arquiteto de Soluções/Software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en-US" sz="17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+25 anos de experiência na área de Tecnologia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en-US" sz="17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Community Leader, Autor Técnico e Palestrante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80;p4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m 2"/>
          <p:cNvPicPr/>
          <p:nvPr/>
        </p:nvPicPr>
        <p:blipFill>
          <a:blip r:embed="rId2"/>
          <a:stretch/>
        </p:blipFill>
        <p:spPr>
          <a:xfrm>
            <a:off x="6979680" y="573840"/>
            <a:ext cx="1606680" cy="178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Imagem 4" descr="Código QR&#10;&#10;O conteúdo gerado por IA pode estar incorreto."/>
          <p:cNvPicPr/>
          <p:nvPr/>
        </p:nvPicPr>
        <p:blipFill>
          <a:blip r:embed="rId3"/>
          <a:stretch/>
        </p:blipFill>
        <p:spPr>
          <a:xfrm>
            <a:off x="6802920" y="2436120"/>
            <a:ext cx="1946520" cy="1946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Agenda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311760" y="1819440"/>
            <a:ext cx="5267520" cy="260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Segurança e Design de Código: uma visão geral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Iniciativas OWASP para um código mais seguro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Vulnerabilidades comuns e caminhos para prevenção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80;p4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m 83"/>
          <p:cNvPicPr/>
          <p:nvPr/>
        </p:nvPicPr>
        <p:blipFill>
          <a:blip r:embed="rId2"/>
          <a:stretch/>
        </p:blipFill>
        <p:spPr>
          <a:xfrm>
            <a:off x="7380000" y="2880360"/>
            <a:ext cx="1438200" cy="14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Imagem 84"/>
          <p:cNvPicPr/>
          <p:nvPr/>
        </p:nvPicPr>
        <p:blipFill>
          <a:blip r:embed="rId3"/>
          <a:stretch/>
        </p:blipFill>
        <p:spPr>
          <a:xfrm>
            <a:off x="6480000" y="1631520"/>
            <a:ext cx="1607040" cy="160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Imagem 85"/>
          <p:cNvPicPr/>
          <p:nvPr/>
        </p:nvPicPr>
        <p:blipFill>
          <a:blip r:embed="rId4"/>
          <a:srcRect r="66929"/>
          <a:stretch/>
        </p:blipFill>
        <p:spPr>
          <a:xfrm>
            <a:off x="5760000" y="3060000"/>
            <a:ext cx="1545480" cy="1431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Segurança no design, não como remendo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11760" y="1310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 maioria das falhas nasce em decisões de arquitetura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Testes validam, design previne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Acesso, identidade e dados são decisões estruturais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Diversas iniciativas open source oferecem critérios para modelagem segura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Segurança é atributo de produto, não correção final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80;p4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m 89"/>
          <p:cNvPicPr/>
          <p:nvPr/>
        </p:nvPicPr>
        <p:blipFill>
          <a:blip r:embed="rId2"/>
          <a:stretch/>
        </p:blipFill>
        <p:spPr>
          <a:xfrm>
            <a:off x="7380000" y="2880000"/>
            <a:ext cx="1438200" cy="14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Imagem 90"/>
          <p:cNvPicPr/>
          <p:nvPr/>
        </p:nvPicPr>
        <p:blipFill>
          <a:blip r:embed="rId3"/>
          <a:stretch/>
        </p:blipFill>
        <p:spPr>
          <a:xfrm>
            <a:off x="6480000" y="1631160"/>
            <a:ext cx="1607040" cy="1607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Em que momento devo me preocupar com a Segurança?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311760" y="1562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 modelagem de domínio define limites de confiança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Autorização e autenticação devem existir no desenho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Serviços, APIs e integrações precisam de contratos claros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80;p 2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m 94"/>
          <p:cNvPicPr/>
          <p:nvPr/>
        </p:nvPicPr>
        <p:blipFill>
          <a:blip r:embed="rId2"/>
          <a:stretch/>
        </p:blipFill>
        <p:spPr>
          <a:xfrm>
            <a:off x="7380000" y="2880000"/>
            <a:ext cx="1438200" cy="14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Imagem 95"/>
          <p:cNvPicPr/>
          <p:nvPr/>
        </p:nvPicPr>
        <p:blipFill>
          <a:blip r:embed="rId3"/>
          <a:stretch/>
        </p:blipFill>
        <p:spPr>
          <a:xfrm>
            <a:off x="6480000" y="1631160"/>
            <a:ext cx="1607040" cy="1607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E que consequências encontramos ao ignorar questões de Segurança?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311760" y="1562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Configuração insegura vira custo de operação e risco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O custo de correção cresce exponencialmente ao longo do ciclo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O eterno retrabalho...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80;p 3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agem 99"/>
          <p:cNvPicPr/>
          <p:nvPr/>
        </p:nvPicPr>
        <p:blipFill>
          <a:blip r:embed="rId2"/>
          <a:stretch/>
        </p:blipFill>
        <p:spPr>
          <a:xfrm>
            <a:off x="7380000" y="2880000"/>
            <a:ext cx="1438200" cy="14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Imagem 100"/>
          <p:cNvPicPr/>
          <p:nvPr/>
        </p:nvPicPr>
        <p:blipFill>
          <a:blip r:embed="rId3"/>
          <a:stretch/>
        </p:blipFill>
        <p:spPr>
          <a:xfrm>
            <a:off x="6480000" y="1631160"/>
            <a:ext cx="1607040" cy="1607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 que poderá nos ajudar?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80;p 1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m 103"/>
          <p:cNvPicPr/>
          <p:nvPr/>
        </p:nvPicPr>
        <p:blipFill>
          <a:blip r:embed="rId2"/>
          <a:stretch/>
        </p:blipFill>
        <p:spPr>
          <a:xfrm>
            <a:off x="3240000" y="1800000"/>
            <a:ext cx="2338200" cy="2338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Uma alternativa: iniciativas OWASP!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80;p4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m 106"/>
          <p:cNvPicPr/>
          <p:nvPr/>
        </p:nvPicPr>
        <p:blipFill>
          <a:blip r:embed="rId2"/>
          <a:srcRect r="66929"/>
          <a:stretch/>
        </p:blipFill>
        <p:spPr>
          <a:xfrm>
            <a:off x="3024000" y="1800000"/>
            <a:ext cx="3021120" cy="2798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OWASP: uma visão geral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Open Web Application Security Project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Uma comunidade global de segurança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Publicação de guias, padrões e compilados com boas práticas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Participação ativa da comunidade técnica na condução destas iniciativas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80;p 4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m 110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OWASP: uma visão geral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OWASP Top 10:2025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OWASP Top 10 API Security Risks – 2023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OWASP GenAI LLM Top 10 2026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OWASP Cheat Sheet Series (dezenas de tecnologias)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…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80;p 6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m 114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 Top 10:2025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9999"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Riscos mais comuns em aplicações web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Ajuda a priorizar o que explorar antes de publicar software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 maioria dos problemas vem de decisões de design e arquitetura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Segurança não é checklist final, é parte do produto desde o começo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Prevenir falhas reduz custo, risco e impacto real para usuários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80;p 7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m 118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 Top 10:2025 - A01: Broken Access Control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311760" y="1526400"/>
            <a:ext cx="580752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Controle de acesso deve ser explícito em cada caso de uso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Negar por padrão e permitir por regra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Validar escopo, identidade e contexto de execução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Endpoints e operações administrativas exigem revisão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Acesso indevido é falha de política e arquitetura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80;p 10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m 122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 Top 10:2025 - A01: Broken Access Control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80;p 20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ráfico 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4920" y="2409120"/>
            <a:ext cx="1171800" cy="110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ráfico 9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706280" y="1231200"/>
            <a:ext cx="1249200" cy="117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ráfico 10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706280" y="3180600"/>
            <a:ext cx="1249200" cy="117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CaixaDeTexto 11"/>
          <p:cNvSpPr/>
          <p:nvPr/>
        </p:nvSpPr>
        <p:spPr>
          <a:xfrm>
            <a:off x="360000" y="3756600"/>
            <a:ext cx="2057040" cy="62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46160" rIns="182880" bIns="146160" anchor="t">
            <a:spAutoFit/>
          </a:bodyPr>
          <a:lstStyle/>
          <a:p>
            <a:pPr algn="ctr" defTabSz="932760">
              <a:lnSpc>
                <a:spcPct val="90000"/>
              </a:lnSpc>
              <a:spcAft>
                <a:spcPts val="601"/>
              </a:spcAft>
            </a:pPr>
            <a:r>
              <a:rPr lang="pt-BR" sz="2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Usuário A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CaixaDeTexto 12"/>
          <p:cNvSpPr/>
          <p:nvPr/>
        </p:nvSpPr>
        <p:spPr>
          <a:xfrm>
            <a:off x="5878440" y="1410840"/>
            <a:ext cx="1861560" cy="95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46160" rIns="182880" bIns="146160" anchor="t">
            <a:spAutoFit/>
          </a:bodyPr>
          <a:lstStyle/>
          <a:p>
            <a:pPr algn="ctr" defTabSz="932760">
              <a:lnSpc>
                <a:spcPct val="90000"/>
              </a:lnSpc>
              <a:spcAft>
                <a:spcPts val="601"/>
              </a:spcAft>
            </a:pPr>
            <a:r>
              <a:rPr lang="pt-BR" sz="2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Dados Usuário A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CaixaDeTexto 13"/>
          <p:cNvSpPr/>
          <p:nvPr/>
        </p:nvSpPr>
        <p:spPr>
          <a:xfrm>
            <a:off x="5878440" y="3360240"/>
            <a:ext cx="1861560" cy="95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46160" rIns="182880" bIns="146160" anchor="t">
            <a:spAutoFit/>
          </a:bodyPr>
          <a:lstStyle/>
          <a:p>
            <a:pPr algn="ctr" defTabSz="932760">
              <a:lnSpc>
                <a:spcPct val="90000"/>
              </a:lnSpc>
              <a:spcAft>
                <a:spcPts val="601"/>
              </a:spcAft>
            </a:pPr>
            <a:r>
              <a:rPr lang="pt-BR" sz="2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Dados Usuário B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32" name="Conector de Seta Reta 15"/>
          <p:cNvCxnSpPr/>
          <p:nvPr/>
        </p:nvCxnSpPr>
        <p:spPr>
          <a:xfrm flipV="1">
            <a:off x="2085840" y="1820160"/>
            <a:ext cx="2413800" cy="970920"/>
          </a:xfrm>
          <a:prstGeom prst="straightConnector1">
            <a:avLst/>
          </a:prstGeom>
          <a:ln w="19050">
            <a:solidFill>
              <a:srgbClr val="FFFFFF"/>
            </a:solidFill>
            <a:round/>
            <a:tailEnd type="arrow" w="med" len="med"/>
          </a:ln>
        </p:spPr>
      </p:cxnSp>
      <p:cxnSp>
        <p:nvCxnSpPr>
          <p:cNvPr id="133" name="Conector de Seta Reta 17"/>
          <p:cNvCxnSpPr/>
          <p:nvPr/>
        </p:nvCxnSpPr>
        <p:spPr>
          <a:xfrm>
            <a:off x="2120400" y="3310560"/>
            <a:ext cx="2517120" cy="585000"/>
          </a:xfrm>
          <a:prstGeom prst="straightConnector1">
            <a:avLst/>
          </a:prstGeom>
          <a:ln w="19050">
            <a:solidFill>
              <a:srgbClr val="D83B01"/>
            </a:solidFill>
            <a:round/>
            <a:tailEnd type="arrow" w="med" len="med"/>
          </a:ln>
        </p:spPr>
      </p:cxnSp>
      <p:sp>
        <p:nvSpPr>
          <p:cNvPr id="134" name="PlaceHolder 4"/>
          <p:cNvSpPr txBox="1"/>
          <p:nvPr/>
        </p:nvSpPr>
        <p:spPr>
          <a:xfrm>
            <a:off x="302040" y="45417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Equivalente ao OWASP Top 10 API - API1:2023 - Broken Object Level Authorization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 Top 10:2025 - A01: Broken Access Control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540000" y="2340000"/>
            <a:ext cx="4907520" cy="81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9999"/>
          </a:bodyPr>
          <a:lstStyle/>
          <a:p>
            <a:pPr marL="4572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Um exemplo com .NET (no repo da apresentação)...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80;p 12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m 137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29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 Top 10:2025 - A03: Software Supply Chain Failures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311760" y="1080000"/>
            <a:ext cx="5807520" cy="3959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Dependências transitivas ampliam a superfície de ataque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Vulnerabilidades em packages, bibliotecas e imagens Docker podem comprometer o build e a execução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Verificação de integridade e origem do software é essencial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Atualização contínua e inventário de componentes reduzem risco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Necessidade de governança, automação e monitoramento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80;p 13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m 141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29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 Top 10:2025 - A03: Software Supply Chain Failures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80;p 14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19"/>
          <p:cNvSpPr/>
          <p:nvPr/>
        </p:nvSpPr>
        <p:spPr>
          <a:xfrm>
            <a:off x="180000" y="1800000"/>
            <a:ext cx="7019280" cy="52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 fontScale="85000" lnSpcReduction="9999"/>
          </a:bodyPr>
          <a:lstStyle/>
          <a:p>
            <a:pPr marL="45720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CACACA"/>
              </a:buClr>
              <a:buSzPct val="45000"/>
              <a:buFont typeface="Average"/>
              <a:buChar char="●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Um exemplo de problema em uma aplicação Node.js (Snyk):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m 145"/>
          <p:cNvPicPr/>
          <p:nvPr/>
        </p:nvPicPr>
        <p:blipFill>
          <a:blip r:embed="rId2"/>
          <a:stretch/>
        </p:blipFill>
        <p:spPr>
          <a:xfrm>
            <a:off x="720000" y="2402640"/>
            <a:ext cx="7702920" cy="1376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29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 Top 10:2025 - A03: Software Supply Chain Failures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80;p 15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0"/>
          <p:cNvSpPr/>
          <p:nvPr/>
        </p:nvSpPr>
        <p:spPr>
          <a:xfrm>
            <a:off x="311760" y="1440000"/>
            <a:ext cx="8327520" cy="99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 marL="45720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CACACA"/>
              </a:buClr>
              <a:buSzPct val="45000"/>
              <a:buFont typeface="Average"/>
              <a:buChar char="●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Uma simples linha de código pode nos ajudar na atualização de dependências em .NET: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m 149"/>
          <p:cNvPicPr/>
          <p:nvPr/>
        </p:nvPicPr>
        <p:blipFill>
          <a:blip r:embed="rId2"/>
          <a:stretch/>
        </p:blipFill>
        <p:spPr>
          <a:xfrm>
            <a:off x="900000" y="2554560"/>
            <a:ext cx="2504160" cy="684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29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 Top 10:2025 - A03: Software Supply Chain Failures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80;p 16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2"/>
          <p:cNvSpPr/>
          <p:nvPr/>
        </p:nvSpPr>
        <p:spPr>
          <a:xfrm>
            <a:off x="180000" y="1858320"/>
            <a:ext cx="7919280" cy="109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 fontScale="92500" lnSpcReduction="19999"/>
          </a:bodyPr>
          <a:lstStyle/>
          <a:p>
            <a:pPr marL="45720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CACACA"/>
              </a:buClr>
              <a:buSzPct val="45000"/>
              <a:buFont typeface="Average"/>
              <a:buChar char="●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E a instalação de uma ferramenta open source (Trivy) em Kubernetes pode detectar problemas com qualquer stack, através de monitoramento contínuo via Grafana + Prometheus!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4AF89-92D1-5307-32EE-9D4EF9283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>
            <a:extLst>
              <a:ext uri="{FF2B5EF4-FFF2-40B4-BE49-F238E27FC236}">
                <a16:creationId xmlns:a16="http://schemas.microsoft.com/office/drawing/2014/main" id="{7D689182-45C8-B41C-1E0C-5E33360A8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29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 Top 10:2025 - A03: Software Supply Chain Failures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>
            <a:extLst>
              <a:ext uri="{FF2B5EF4-FFF2-40B4-BE49-F238E27FC236}">
                <a16:creationId xmlns:a16="http://schemas.microsoft.com/office/drawing/2014/main" id="{B86B394B-C1C5-B7A4-D129-1280E1089D8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080000"/>
            <a:ext cx="5807520" cy="3959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Dependências transitivas ampliam a superfície de ataque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Vulnerabilidades em packages, bibliotecas e imagens Docker podem comprometer o build e a execução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Verificação de integridade e origem do software é essencial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Atualização contínua e inventário de componentes reduzem risco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Necessidade de governança, automação e monitoramento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80;p 13">
            <a:extLst>
              <a:ext uri="{FF2B5EF4-FFF2-40B4-BE49-F238E27FC236}">
                <a16:creationId xmlns:a16="http://schemas.microsoft.com/office/drawing/2014/main" id="{1BDE8013-A410-B6CD-F702-38714FAC005C}"/>
              </a:ext>
            </a:extLst>
          </p:cNvPr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m 141">
            <a:extLst>
              <a:ext uri="{FF2B5EF4-FFF2-40B4-BE49-F238E27FC236}">
                <a16:creationId xmlns:a16="http://schemas.microsoft.com/office/drawing/2014/main" id="{A14748C5-011D-3C31-A7ED-F7A998356EFF}"/>
              </a:ext>
            </a:extLst>
          </p:cNvPr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147513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29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 Top 10:2025 - A05: Injection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311760" y="1080000"/>
            <a:ext cx="5807520" cy="3959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9999"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Ocorre quando dados do usuário são interpretados como comando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Ataques comuns incluem SQL Injection, NoSQL Injection e Command Injection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 falha surge quando entradas não são validadas ou tratadas com segurança.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O impacto pode ser vazamento de dados, fraude e controle indevido do sistema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 prevenção exige validação de entrada, queries parametrizadas e princípio do menor privilégio (Least Privilege)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80;p 17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m 156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 Top 10:2025 - A05: Injection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540000" y="2340000"/>
            <a:ext cx="4907520" cy="81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9999"/>
          </a:bodyPr>
          <a:lstStyle/>
          <a:p>
            <a:pPr marL="4572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Mais um exemplo com .NET (no repo da apresentação)...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80;p 18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Imagem 160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4704B-C32D-EB7B-941A-E31082B1A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>
            <a:extLst>
              <a:ext uri="{FF2B5EF4-FFF2-40B4-BE49-F238E27FC236}">
                <a16:creationId xmlns:a16="http://schemas.microsoft.com/office/drawing/2014/main" id="{B2A69003-0E60-5540-A1E3-C5B82FA5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US" sz="2900" dirty="0">
                <a:solidFill>
                  <a:schemeClr val="dk1"/>
                </a:solidFill>
                <a:latin typeface="Oswald"/>
                <a:ea typeface="Oswald"/>
              </a:rPr>
              <a:t>A09:2025 Security Logging &amp; Alerting Failures</a:t>
            </a:r>
            <a:endParaRPr lang="pt-BR" sz="2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>
            <a:extLst>
              <a:ext uri="{FF2B5EF4-FFF2-40B4-BE49-F238E27FC236}">
                <a16:creationId xmlns:a16="http://schemas.microsoft.com/office/drawing/2014/main" id="{5F60F065-5FBE-903C-6B79-069014A6D3A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080000"/>
            <a:ext cx="5807520" cy="3959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A implementação de </a:t>
            </a:r>
            <a:r>
              <a:rPr lang="pt-BR" sz="2000" dirty="0" err="1">
                <a:solidFill>
                  <a:schemeClr val="accent3"/>
                </a:solidFill>
                <a:latin typeface="Average"/>
                <a:ea typeface="Average"/>
              </a:rPr>
              <a:t>Observabilidade</a:t>
            </a: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 (logs, métricas, traces) é fundamental para o acompanhamento da segurança de uma aplicação</a:t>
            </a:r>
          </a:p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Registre logins, falhas de acesso e erros de validação com contexto suficiente para identificar contas suspeitas</a:t>
            </a:r>
          </a:p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Registre tanto o sucesso quanto a falha de cada controle de segurança da aplicação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80;p 17">
            <a:extLst>
              <a:ext uri="{FF2B5EF4-FFF2-40B4-BE49-F238E27FC236}">
                <a16:creationId xmlns:a16="http://schemas.microsoft.com/office/drawing/2014/main" id="{4A3331D9-49D4-2E6F-ACC8-610B81DB05E5}"/>
              </a:ext>
            </a:extLst>
          </p:cNvPr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m 156">
            <a:extLst>
              <a:ext uri="{FF2B5EF4-FFF2-40B4-BE49-F238E27FC236}">
                <a16:creationId xmlns:a16="http://schemas.microsoft.com/office/drawing/2014/main" id="{75F8A760-8CBB-0E08-54BF-1B75D1BB823B}"/>
              </a:ext>
            </a:extLst>
          </p:cNvPr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508144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6C7C7-10EA-79DF-29C8-9CA61B7A2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>
            <a:extLst>
              <a:ext uri="{FF2B5EF4-FFF2-40B4-BE49-F238E27FC236}">
                <a16:creationId xmlns:a16="http://schemas.microsoft.com/office/drawing/2014/main" id="{47210663-10DD-D942-0363-FE42C7863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US" sz="2900" dirty="0">
                <a:solidFill>
                  <a:schemeClr val="dk1"/>
                </a:solidFill>
                <a:latin typeface="Oswald"/>
                <a:ea typeface="Oswald"/>
              </a:rPr>
              <a:t>A09:2025 Security Logging &amp; Alerting Failures</a:t>
            </a:r>
            <a:endParaRPr lang="pt-BR" sz="2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>
            <a:extLst>
              <a:ext uri="{FF2B5EF4-FFF2-40B4-BE49-F238E27FC236}">
                <a16:creationId xmlns:a16="http://schemas.microsoft.com/office/drawing/2014/main" id="{C3D05251-BF8E-A0A0-5B62-9676DF4BAE3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080000"/>
            <a:ext cx="5807520" cy="3959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Gere logs em formato padronizado, sem dados sensíveis e protegidos contra adulteração</a:t>
            </a:r>
          </a:p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Monitore os logs em tempo real e dispare alertas quando o comportamento for suspeito</a:t>
            </a:r>
          </a:p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Use soluções de mercado (muitas open </a:t>
            </a:r>
            <a:r>
              <a:rPr lang="pt-BR" sz="2000" dirty="0" err="1">
                <a:solidFill>
                  <a:schemeClr val="accent3"/>
                </a:solidFill>
                <a:latin typeface="Average"/>
                <a:ea typeface="Average"/>
              </a:rPr>
              <a:t>source</a:t>
            </a: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) como Azure </a:t>
            </a:r>
            <a:r>
              <a:rPr lang="pt-BR" sz="2000" dirty="0" err="1">
                <a:solidFill>
                  <a:schemeClr val="accent3"/>
                </a:solidFill>
                <a:latin typeface="Average"/>
                <a:ea typeface="Average"/>
              </a:rPr>
              <a:t>Application</a:t>
            </a: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 Insights, </a:t>
            </a:r>
            <a:r>
              <a:rPr lang="pt-BR" sz="2000" dirty="0" err="1">
                <a:solidFill>
                  <a:schemeClr val="accent3"/>
                </a:solidFill>
                <a:latin typeface="Average"/>
                <a:ea typeface="Average"/>
              </a:rPr>
              <a:t>Grafana</a:t>
            </a: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 Tempo (traces), </a:t>
            </a:r>
            <a:r>
              <a:rPr lang="pt-BR" sz="2000" dirty="0" err="1">
                <a:solidFill>
                  <a:schemeClr val="accent3"/>
                </a:solidFill>
                <a:latin typeface="Average"/>
                <a:ea typeface="Average"/>
              </a:rPr>
              <a:t>Grafana</a:t>
            </a: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 Loki (logs) e </a:t>
            </a:r>
            <a:r>
              <a:rPr lang="pt-BR" sz="2000" dirty="0" err="1">
                <a:solidFill>
                  <a:schemeClr val="accent3"/>
                </a:solidFill>
                <a:latin typeface="Average"/>
                <a:ea typeface="Average"/>
              </a:rPr>
              <a:t>Prometheus</a:t>
            </a: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 (métricas), ao invés de "inventar" sua própria implementação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80;p 17">
            <a:extLst>
              <a:ext uri="{FF2B5EF4-FFF2-40B4-BE49-F238E27FC236}">
                <a16:creationId xmlns:a16="http://schemas.microsoft.com/office/drawing/2014/main" id="{CF713599-C659-C953-4B97-08CF9487EC90}"/>
              </a:ext>
            </a:extLst>
          </p:cNvPr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m 156">
            <a:extLst>
              <a:ext uri="{FF2B5EF4-FFF2-40B4-BE49-F238E27FC236}">
                <a16:creationId xmlns:a16="http://schemas.microsoft.com/office/drawing/2014/main" id="{F149B949-9ADA-BEF4-188C-01ADA119CCB2}"/>
              </a:ext>
            </a:extLst>
          </p:cNvPr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467511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https://raw.githubusercontent.com/renatogroffe/aspnetcore10-otel-grafanacloud-alloy-dbobservability-postgres-k6_dadosgeograficos/refs/heads/main/img/tempo-02.png">
            <a:extLst>
              <a:ext uri="{FF2B5EF4-FFF2-40B4-BE49-F238E27FC236}">
                <a16:creationId xmlns:a16="http://schemas.microsoft.com/office/drawing/2014/main" id="{286B672F-470A-15C4-4885-07A34A776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650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 Top 10 API Security Risks – 2023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Relação dos erros mais comuns em APIs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Se APIs falham do ponto de vista de segurança, o sistema inteiro fica exposto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Autorizações e autenticação são o coração da segurança da API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Segurança de API não é detalhe, é base da confiabilidade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80;p 8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m 164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36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API4:2023 - Unrestricted Resource Consumption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Uso de APIs sem restrições e até a exaustão de recursos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Denial of Service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Degradação de performance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115000"/>
              </a:lnSpc>
              <a:spcBef>
                <a:spcPts val="1417"/>
              </a:spcBef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80;p 19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Imagem 168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/>
          </p:nvPr>
        </p:nvSpPr>
        <p:spPr>
          <a:xfrm>
            <a:off x="311760" y="1152360"/>
            <a:ext cx="8517960" cy="341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m 170"/>
          <p:cNvPicPr/>
          <p:nvPr/>
        </p:nvPicPr>
        <p:blipFill>
          <a:blip r:embed="rId2"/>
          <a:stretch/>
        </p:blipFill>
        <p:spPr>
          <a:xfrm>
            <a:off x="1355760" y="-6840"/>
            <a:ext cx="64292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/>
          </p:nvPr>
        </p:nvSpPr>
        <p:spPr>
          <a:xfrm>
            <a:off x="311760" y="1152360"/>
            <a:ext cx="8517960" cy="341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Imagem 172"/>
          <p:cNvPicPr/>
          <p:nvPr/>
        </p:nvPicPr>
        <p:blipFill>
          <a:blip r:embed="rId2"/>
          <a:stretch/>
        </p:blipFill>
        <p:spPr>
          <a:xfrm>
            <a:off x="1355760" y="-6840"/>
            <a:ext cx="64292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Imagem 173"/>
          <p:cNvPicPr/>
          <p:nvPr/>
        </p:nvPicPr>
        <p:blipFill>
          <a:blip r:embed="rId3"/>
          <a:stretch/>
        </p:blipFill>
        <p:spPr>
          <a:xfrm>
            <a:off x="1656000" y="283320"/>
            <a:ext cx="5797440" cy="3629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36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API4:2023 - Unrestricted Resource Consumption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Erro 429 (Too many requests)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APIs Gateways com policies limitando uso de APIs (preferível ao tratamento via código)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Rate Limit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Azure API Management, APISIX, Kong...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80;p 21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m 177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36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API4:2023 - Unrestricted Resource Consumption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80;p 22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11"/>
          <p:cNvSpPr/>
          <p:nvPr/>
        </p:nvSpPr>
        <p:spPr>
          <a:xfrm>
            <a:off x="180000" y="1858320"/>
            <a:ext cx="7919280" cy="109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 fontScale="92500" lnSpcReduction="19999"/>
          </a:bodyPr>
          <a:lstStyle/>
          <a:p>
            <a:pPr marL="45720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CACACA"/>
              </a:buClr>
              <a:buSzPct val="45000"/>
              <a:buFont typeface="Average"/>
              <a:buChar char="●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Uma simples Policy definida em XML (no caso do Azure API Management) pode resolver este tipo de problema para APIs REST construídas em qualquer stack!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Gráfico 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600000" y="3420000"/>
            <a:ext cx="1440000" cy="1440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API5:2023 - Broken Function Level Authorization (BFLA)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Capacidade do Usuário A executar transações em nome do Usuário B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BOLA (visualização de dados) x BFLA (transações)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Cuidados expondo endpoints do tipo POST, PUT, DELETE ou de funções administrativas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Definir controles de autorização claros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80;p 23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m 185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API5:2023 - Broken Function Level Authorization (BFLA)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540000" y="2340000"/>
            <a:ext cx="4907520" cy="81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9999"/>
          </a:bodyPr>
          <a:lstStyle/>
          <a:p>
            <a:pPr marL="4572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Mais um exemplo no repo da apresentação...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80;p 24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m 189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pt-BR" sz="3200" dirty="0">
                <a:solidFill>
                  <a:schemeClr val="dk1"/>
                </a:solidFill>
                <a:latin typeface="Oswald"/>
                <a:ea typeface="Oswald"/>
              </a:rPr>
              <a:t>API9:2023 - </a:t>
            </a:r>
            <a:r>
              <a:rPr lang="pt-BR" sz="3200" dirty="0" err="1">
                <a:solidFill>
                  <a:schemeClr val="dk1"/>
                </a:solidFill>
                <a:latin typeface="Oswald"/>
                <a:ea typeface="Oswald"/>
              </a:rPr>
              <a:t>Improper</a:t>
            </a:r>
            <a:r>
              <a:rPr lang="pt-BR" sz="3200" dirty="0">
                <a:solidFill>
                  <a:schemeClr val="dk1"/>
                </a:solidFill>
                <a:latin typeface="Oswald"/>
                <a:ea typeface="Oswald"/>
              </a:rPr>
              <a:t> </a:t>
            </a:r>
            <a:r>
              <a:rPr lang="pt-BR" sz="3200" dirty="0" err="1">
                <a:solidFill>
                  <a:schemeClr val="dk1"/>
                </a:solidFill>
                <a:latin typeface="Oswald"/>
                <a:ea typeface="Oswald"/>
              </a:rPr>
              <a:t>Inventory</a:t>
            </a:r>
            <a:r>
              <a:rPr lang="pt-BR" sz="3200" dirty="0">
                <a:solidFill>
                  <a:schemeClr val="dk1"/>
                </a:solidFill>
                <a:latin typeface="Oswald"/>
                <a:ea typeface="Oswald"/>
              </a:rPr>
              <a:t> Management</a:t>
            </a:r>
            <a:endParaRPr lang="pt-B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 err="1">
                <a:solidFill>
                  <a:schemeClr val="accent3"/>
                </a:solidFill>
                <a:latin typeface="Average"/>
                <a:ea typeface="Average"/>
              </a:rPr>
              <a:t>Endpoints</a:t>
            </a: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 de versões antigas podem permanecer disponíveis</a:t>
            </a:r>
          </a:p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Constituem brechas para outros tipos de ataque</a:t>
            </a:r>
          </a:p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Cuidados com o que será exposto via </a:t>
            </a:r>
            <a:r>
              <a:rPr lang="pt-BR" sz="2000" dirty="0" err="1">
                <a:solidFill>
                  <a:schemeClr val="accent3"/>
                </a:solidFill>
                <a:latin typeface="Average"/>
                <a:ea typeface="Average"/>
              </a:rPr>
              <a:t>OpenAPI</a:t>
            </a:r>
            <a:endParaRPr lang="pt-BR" sz="2000" dirty="0">
              <a:solidFill>
                <a:schemeClr val="accent3"/>
              </a:solidFill>
              <a:latin typeface="Average"/>
              <a:ea typeface="Average"/>
            </a:endParaRPr>
          </a:p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 err="1">
                <a:solidFill>
                  <a:schemeClr val="accent3"/>
                </a:solidFill>
                <a:latin typeface="Average"/>
                <a:ea typeface="Average"/>
              </a:rPr>
              <a:t>APIOps</a:t>
            </a: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 e API Gateways contribuem para uma melhor governança</a:t>
            </a:r>
          </a:p>
        </p:txBody>
      </p:sp>
      <p:sp>
        <p:nvSpPr>
          <p:cNvPr id="197" name="Google Shape;80;p 26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Imagem 197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API10:2023 - Unsafe Consumption of APIs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Integrações sempre estão presentes em projetos corporativos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APIs de terceiros podem ser uma porta de entrada para ataques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Garantir que boas práticas de segurança são também adotadas por parceiros e fornecedores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80;p 25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Imagem 193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2FBAD-FC02-E74D-0D42-C6880E04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>
            <a:extLst>
              <a:ext uri="{FF2B5EF4-FFF2-40B4-BE49-F238E27FC236}">
                <a16:creationId xmlns:a16="http://schemas.microsoft.com/office/drawing/2014/main" id="{E8E65AAB-B522-79C3-62A2-D231D51F6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API10:2023 - Unsafe Consumption of APIs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>
            <a:extLst>
              <a:ext uri="{FF2B5EF4-FFF2-40B4-BE49-F238E27FC236}">
                <a16:creationId xmlns:a16="http://schemas.microsoft.com/office/drawing/2014/main" id="{EC7BAB5B-5373-F1EB-4C2F-F2100BA9562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“Para consumir nossa API vocês utilizarão um token JWT com 3 anos de duração…”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“Não faz diferença a biblioteca que utilizei para consumir APIs (Dev que utilizou talvez o primeiro package ‘alternativo’ que encontrou, ao invés da biblioteca oficial daquela stack)…”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“JWT envolve uma criptografia forte...”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80;p 26">
            <a:extLst>
              <a:ext uri="{FF2B5EF4-FFF2-40B4-BE49-F238E27FC236}">
                <a16:creationId xmlns:a16="http://schemas.microsoft.com/office/drawing/2014/main" id="{2FB385B9-E7B2-16C3-8061-026591AFDF7F}"/>
              </a:ext>
            </a:extLst>
          </p:cNvPr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Imagem 197">
            <a:extLst>
              <a:ext uri="{FF2B5EF4-FFF2-40B4-BE49-F238E27FC236}">
                <a16:creationId xmlns:a16="http://schemas.microsoft.com/office/drawing/2014/main" id="{FB01F456-25CB-462F-7D89-A605D7B07BB6}"/>
              </a:ext>
            </a:extLst>
          </p:cNvPr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8846404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OWASP GenAI LLM Top 10 2026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Riscos mais graves em modelos e soluções de Inteligência Artificial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O uso de IAs Generativas em larga escala têm aberto novas fronteiras a serem exploradas dentro da área de Cybersegurança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80;p 9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m 201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LLM01: Prompt Injection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Similar a SQL Injection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Adoção de boas práticas de desenvolvimento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Uso de princípios de Least Privilege ao utilizar LLMs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80;p 27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m 205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LLM01: Prompt Injection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Limitar os dados sensíveis a que um LLM pode acessar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Implementar o uso de guardrails, evitando inclusive interações que não façam sentido para uma funcionalidade de chat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Exigir aprovação humana para funções mais críticas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115000"/>
              </a:lnSpc>
              <a:spcBef>
                <a:spcPts val="1417"/>
              </a:spcBef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80;p 30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0" name="Imagem 209"/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LLM01: Prompt Injection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80;p 29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8"/>
          <p:cNvSpPr/>
          <p:nvPr/>
        </p:nvSpPr>
        <p:spPr>
          <a:xfrm>
            <a:off x="180000" y="1440000"/>
            <a:ext cx="7919280" cy="151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 fontScale="85000" lnSpcReduction="9999"/>
          </a:bodyPr>
          <a:lstStyle/>
          <a:p>
            <a:pPr marL="45720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CACACA"/>
              </a:buClr>
              <a:buSzPct val="45000"/>
              <a:buFont typeface="Average"/>
              <a:buChar char="●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Uma solução como NVidia NeMo Guardrails pode implementar com facilidade Guardrails e de forma plugável a uma solução de IA, através de uma linguagem simplificada e que dispensa excessivas linhas de código tentando prever possibilidades de texto...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m 213"/>
          <p:cNvPicPr/>
          <p:nvPr/>
        </p:nvPicPr>
        <p:blipFill>
          <a:blip r:embed="rId2"/>
          <a:stretch/>
        </p:blipFill>
        <p:spPr>
          <a:xfrm>
            <a:off x="3600000" y="3117960"/>
            <a:ext cx="1742040" cy="1742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E980-983C-9657-831F-3BFD4C95A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>
            <a:extLst>
              <a:ext uri="{FF2B5EF4-FFF2-40B4-BE49-F238E27FC236}">
                <a16:creationId xmlns:a16="http://schemas.microsoft.com/office/drawing/2014/main" id="{71E16092-2CD0-7071-EC9F-B1741B59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pt-BR" sz="3600" dirty="0">
                <a:solidFill>
                  <a:schemeClr val="dk1"/>
                </a:solidFill>
                <a:latin typeface="Oswald"/>
                <a:ea typeface="Oswald"/>
              </a:rPr>
              <a:t>LLM02:2026 </a:t>
            </a:r>
            <a:r>
              <a:rPr lang="pt-BR" sz="3600" dirty="0" err="1">
                <a:solidFill>
                  <a:schemeClr val="dk1"/>
                </a:solidFill>
                <a:latin typeface="Oswald"/>
                <a:ea typeface="Oswald"/>
              </a:rPr>
              <a:t>Sensitive</a:t>
            </a:r>
            <a:r>
              <a:rPr lang="pt-BR" sz="3600" dirty="0">
                <a:solidFill>
                  <a:schemeClr val="dk1"/>
                </a:solidFill>
                <a:latin typeface="Oswald"/>
                <a:ea typeface="Oswald"/>
              </a:rPr>
              <a:t> </a:t>
            </a:r>
            <a:r>
              <a:rPr lang="pt-BR" sz="3600" dirty="0" err="1">
                <a:solidFill>
                  <a:schemeClr val="dk1"/>
                </a:solidFill>
                <a:latin typeface="Oswald"/>
                <a:ea typeface="Oswald"/>
              </a:rPr>
              <a:t>Information</a:t>
            </a:r>
            <a:r>
              <a:rPr lang="pt-BR" sz="3600" dirty="0">
                <a:solidFill>
                  <a:schemeClr val="dk1"/>
                </a:solidFill>
                <a:latin typeface="Oswald"/>
                <a:ea typeface="Oswald"/>
              </a:rPr>
              <a:t> </a:t>
            </a:r>
            <a:r>
              <a:rPr lang="pt-BR" sz="3600" dirty="0" err="1">
                <a:solidFill>
                  <a:schemeClr val="dk1"/>
                </a:solidFill>
                <a:latin typeface="Oswald"/>
                <a:ea typeface="Oswald"/>
              </a:rPr>
              <a:t>Disclosure</a:t>
            </a:r>
            <a:endParaRPr lang="pt-B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2">
            <a:extLst>
              <a:ext uri="{FF2B5EF4-FFF2-40B4-BE49-F238E27FC236}">
                <a16:creationId xmlns:a16="http://schemas.microsoft.com/office/drawing/2014/main" id="{7227739F-4678-92EF-30AA-C629151B33E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Classifique (público, interno, confidencial...) e higienize os dados antes de usá-los no treinamento ou no RAG</a:t>
            </a:r>
          </a:p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Envie ao modelo apenas as informações necessárias para cada tarefa</a:t>
            </a:r>
          </a:p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Autorize o acesso antes da recuperação, inclusive no nível de documentos e trechos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80;p 27">
            <a:extLst>
              <a:ext uri="{FF2B5EF4-FFF2-40B4-BE49-F238E27FC236}">
                <a16:creationId xmlns:a16="http://schemas.microsoft.com/office/drawing/2014/main" id="{E6430342-24DD-EA64-0D74-D1D19F662DDB}"/>
              </a:ext>
            </a:extLst>
          </p:cNvPr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m 205">
            <a:extLst>
              <a:ext uri="{FF2B5EF4-FFF2-40B4-BE49-F238E27FC236}">
                <a16:creationId xmlns:a16="http://schemas.microsoft.com/office/drawing/2014/main" id="{5613EE1E-EC0D-D001-4CE1-375DE34A1244}"/>
              </a:ext>
            </a:extLst>
          </p:cNvPr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7848612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0B577-E8AD-7A3D-B935-5405BD5C9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>
            <a:extLst>
              <a:ext uri="{FF2B5EF4-FFF2-40B4-BE49-F238E27FC236}">
                <a16:creationId xmlns:a16="http://schemas.microsoft.com/office/drawing/2014/main" id="{1BA6F7D8-8BB8-D813-0283-EAA2DA1E7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pt-BR" sz="3600" dirty="0">
                <a:solidFill>
                  <a:schemeClr val="dk1"/>
                </a:solidFill>
                <a:latin typeface="Oswald"/>
                <a:ea typeface="Oswald"/>
              </a:rPr>
              <a:t>LLM02:2026 </a:t>
            </a:r>
            <a:r>
              <a:rPr lang="pt-BR" sz="3600" dirty="0" err="1">
                <a:solidFill>
                  <a:schemeClr val="dk1"/>
                </a:solidFill>
                <a:latin typeface="Oswald"/>
                <a:ea typeface="Oswald"/>
              </a:rPr>
              <a:t>Sensitive</a:t>
            </a:r>
            <a:r>
              <a:rPr lang="pt-BR" sz="3600" dirty="0">
                <a:solidFill>
                  <a:schemeClr val="dk1"/>
                </a:solidFill>
                <a:latin typeface="Oswald"/>
                <a:ea typeface="Oswald"/>
              </a:rPr>
              <a:t> </a:t>
            </a:r>
            <a:r>
              <a:rPr lang="pt-BR" sz="3600" dirty="0" err="1">
                <a:solidFill>
                  <a:schemeClr val="dk1"/>
                </a:solidFill>
                <a:latin typeface="Oswald"/>
                <a:ea typeface="Oswald"/>
              </a:rPr>
              <a:t>Information</a:t>
            </a:r>
            <a:r>
              <a:rPr lang="pt-BR" sz="3600" dirty="0">
                <a:solidFill>
                  <a:schemeClr val="dk1"/>
                </a:solidFill>
                <a:latin typeface="Oswald"/>
                <a:ea typeface="Oswald"/>
              </a:rPr>
              <a:t> </a:t>
            </a:r>
            <a:r>
              <a:rPr lang="pt-BR" sz="3600" dirty="0" err="1">
                <a:solidFill>
                  <a:schemeClr val="dk1"/>
                </a:solidFill>
                <a:latin typeface="Oswald"/>
                <a:ea typeface="Oswald"/>
              </a:rPr>
              <a:t>Disclosure</a:t>
            </a:r>
            <a:endParaRPr lang="pt-B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2">
            <a:extLst>
              <a:ext uri="{FF2B5EF4-FFF2-40B4-BE49-F238E27FC236}">
                <a16:creationId xmlns:a16="http://schemas.microsoft.com/office/drawing/2014/main" id="{44D78A12-3691-A29D-CEC9-362F37DE1BA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526400"/>
            <a:ext cx="5671440" cy="31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Nunca armazene segredos, credenciais ou dados regulados em prompts de sistema</a:t>
            </a:r>
          </a:p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Detecte e remova informações sensíveis de respostas, logs, rastros e </a:t>
            </a:r>
            <a:r>
              <a:rPr lang="pt-BR" sz="2000" dirty="0" err="1">
                <a:solidFill>
                  <a:schemeClr val="accent3"/>
                </a:solidFill>
                <a:latin typeface="Average"/>
                <a:ea typeface="Average"/>
              </a:rPr>
              <a:t>embeddings</a:t>
            </a:r>
            <a:endParaRPr lang="pt-BR" sz="2000" dirty="0">
              <a:solidFill>
                <a:schemeClr val="accent3"/>
              </a:solidFill>
              <a:latin typeface="Average"/>
              <a:ea typeface="Average"/>
            </a:endParaRPr>
          </a:p>
          <a:p>
            <a:pPr marL="457200" indent="-343080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pt-BR" sz="2000" dirty="0">
                <a:solidFill>
                  <a:schemeClr val="accent3"/>
                </a:solidFill>
                <a:latin typeface="Average"/>
                <a:ea typeface="Average"/>
              </a:rPr>
              <a:t>Proteja os dados com criptografia, controle de acesso, limites de consulta e monitoramento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80;p 27">
            <a:extLst>
              <a:ext uri="{FF2B5EF4-FFF2-40B4-BE49-F238E27FC236}">
                <a16:creationId xmlns:a16="http://schemas.microsoft.com/office/drawing/2014/main" id="{DE29FE14-B562-4417-FEAC-16611A27CBA3}"/>
              </a:ext>
            </a:extLst>
          </p:cNvPr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m 205">
            <a:extLst>
              <a:ext uri="{FF2B5EF4-FFF2-40B4-BE49-F238E27FC236}">
                <a16:creationId xmlns:a16="http://schemas.microsoft.com/office/drawing/2014/main" id="{A64990BA-B93D-6A1B-40F8-AB85208268B6}"/>
              </a:ext>
            </a:extLst>
          </p:cNvPr>
          <p:cNvPicPr/>
          <p:nvPr/>
        </p:nvPicPr>
        <p:blipFill>
          <a:blip r:embed="rId2"/>
          <a:srcRect r="66929"/>
          <a:stretch/>
        </p:blipFill>
        <p:spPr>
          <a:xfrm>
            <a:off x="6300000" y="1620000"/>
            <a:ext cx="2445120" cy="226476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9120942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Algumas conclusões...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311760" y="1359000"/>
            <a:ext cx="5671440" cy="3501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en-US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Embora o cuidado com o código seja primordial, podemos também nos valer de serviços de apoio (como API Gateways) para tornar nossas aplicações mais seguras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en-US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Dependências são uma preocupação em qualquer tipo de projeto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en-US" sz="18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Há excelentes soluções open source para nos auxiliar na busca por maior segurança (como Trivy + Prometheus + Grafana)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80;p 28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Imagem 6"/>
          <p:cNvPicPr/>
          <p:nvPr/>
        </p:nvPicPr>
        <p:blipFill>
          <a:blip r:embed="rId2"/>
          <a:srcRect l="417" r="417"/>
          <a:stretch/>
        </p:blipFill>
        <p:spPr>
          <a:xfrm>
            <a:off x="6389640" y="1745640"/>
            <a:ext cx="2235240" cy="2156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Algumas conclusões...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311760" y="1359000"/>
            <a:ext cx="5671440" cy="3501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Muitos tipos de ataques estão presentes em várias compilações da OWASP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spcBef>
                <a:spcPts val="1417"/>
              </a:spcBef>
              <a:buClr>
                <a:srgbClr val="CACACA"/>
              </a:buClr>
              <a:buSzPct val="45000"/>
              <a:buFont typeface="Average"/>
              <a:buChar char="●"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Não reinvente a roda, aprenda com experiências passadas e faça uso de soluções já testadas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80;p4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m 3"/>
          <p:cNvPicPr/>
          <p:nvPr/>
        </p:nvPicPr>
        <p:blipFill>
          <a:blip r:embed="rId2"/>
          <a:srcRect l="417" r="417"/>
          <a:stretch/>
        </p:blipFill>
        <p:spPr>
          <a:xfrm>
            <a:off x="6389640" y="1745640"/>
            <a:ext cx="2235240" cy="2156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311760" y="1091728"/>
            <a:ext cx="8517960" cy="78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 dirty="0" err="1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Muito</a:t>
            </a:r>
            <a:r>
              <a:rPr lang="en-US" sz="4200" b="0" u="none" strike="noStrike" dirty="0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 </a:t>
            </a:r>
            <a:r>
              <a:rPr lang="en-US" sz="4200" b="0" u="none" strike="noStrike" dirty="0" err="1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obrigado</a:t>
            </a:r>
            <a:r>
              <a:rPr lang="en-US" sz="4200" b="0" u="none" strike="noStrike" dirty="0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!</a:t>
            </a:r>
            <a:endParaRPr lang="pt-BR" sz="4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80;p4"/>
          <p:cNvSpPr/>
          <p:nvPr/>
        </p:nvSpPr>
        <p:spPr>
          <a:xfrm>
            <a:off x="8096040" y="174240"/>
            <a:ext cx="808920" cy="32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m 226"/>
          <p:cNvPicPr/>
          <p:nvPr/>
        </p:nvPicPr>
        <p:blipFill>
          <a:blip r:embed="rId2"/>
          <a:stretch/>
        </p:blipFill>
        <p:spPr>
          <a:xfrm>
            <a:off x="5184000" y="2291594"/>
            <a:ext cx="1259280" cy="125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Imagem 227"/>
          <p:cNvPicPr/>
          <p:nvPr/>
        </p:nvPicPr>
        <p:blipFill>
          <a:blip r:embed="rId3"/>
          <a:stretch/>
        </p:blipFill>
        <p:spPr>
          <a:xfrm>
            <a:off x="2556000" y="2303834"/>
            <a:ext cx="1259280" cy="125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Imagem 228"/>
          <p:cNvPicPr/>
          <p:nvPr/>
        </p:nvPicPr>
        <p:blipFill>
          <a:blip r:embed="rId4"/>
          <a:srcRect r="66929"/>
          <a:stretch/>
        </p:blipFill>
        <p:spPr>
          <a:xfrm>
            <a:off x="3935520" y="2363594"/>
            <a:ext cx="1281960" cy="118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3392</TotalTime>
  <Words>1531</Words>
  <Application>Microsoft Office PowerPoint</Application>
  <PresentationFormat>Apresentação na tela (16:9)</PresentationFormat>
  <Paragraphs>161</Paragraphs>
  <Slides>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44</vt:i4>
      </vt:variant>
    </vt:vector>
  </HeadingPairs>
  <TitlesOfParts>
    <vt:vector size="53" baseType="lpstr">
      <vt:lpstr>Arial</vt:lpstr>
      <vt:lpstr>Segoe UI</vt:lpstr>
      <vt:lpstr>Symbol</vt:lpstr>
      <vt:lpstr>Average</vt:lpstr>
      <vt:lpstr>Times New Roman</vt:lpstr>
      <vt:lpstr>Oswald</vt:lpstr>
      <vt:lpstr>Wingdings</vt:lpstr>
      <vt:lpstr>Slate</vt:lpstr>
      <vt:lpstr>Slate</vt:lpstr>
      <vt:lpstr>Apresentação do PowerPoint</vt:lpstr>
      <vt:lpstr>Renato Groffe</vt:lpstr>
      <vt:lpstr>Agenda</vt:lpstr>
      <vt:lpstr>Segurança no design, não como remendo</vt:lpstr>
      <vt:lpstr>Em que momento devo me preocupar com a Segurança?</vt:lpstr>
      <vt:lpstr>E que consequências encontramos ao ignorar questões de Segurança?</vt:lpstr>
      <vt:lpstr>O que poderá nos ajudar?</vt:lpstr>
      <vt:lpstr>Uma alternativa: iniciativas OWASP!</vt:lpstr>
      <vt:lpstr>OWASP: uma visão geral</vt:lpstr>
      <vt:lpstr>OWASP: uma visão geral</vt:lpstr>
      <vt:lpstr>OWASP Top 10:2025</vt:lpstr>
      <vt:lpstr>OWASP Top 10:2025 - A01: Broken Access Control</vt:lpstr>
      <vt:lpstr>OWASP Top 10:2025 - A01: Broken Access Control</vt:lpstr>
      <vt:lpstr>OWASP Top 10:2025 - A01: Broken Access Control</vt:lpstr>
      <vt:lpstr>OWASP Top 10:2025 - A03: Software Supply Chain Failures</vt:lpstr>
      <vt:lpstr>OWASP Top 10:2025 - A03: Software Supply Chain Failures</vt:lpstr>
      <vt:lpstr>OWASP Top 10:2025 - A03: Software Supply Chain Failures</vt:lpstr>
      <vt:lpstr>OWASP Top 10:2025 - A03: Software Supply Chain Failures</vt:lpstr>
      <vt:lpstr>OWASP Top 10:2025 - A03: Software Supply Chain Failures</vt:lpstr>
      <vt:lpstr>OWASP Top 10:2025 - A05: Injection</vt:lpstr>
      <vt:lpstr>OWASP Top 10:2025 - A05: Injection</vt:lpstr>
      <vt:lpstr>A09:2025 Security Logging &amp; Alerting Failures</vt:lpstr>
      <vt:lpstr>A09:2025 Security Logging &amp; Alerting Failures</vt:lpstr>
      <vt:lpstr>Apresentação do PowerPoint</vt:lpstr>
      <vt:lpstr>OWASP Top 10 API Security Risks – 2023</vt:lpstr>
      <vt:lpstr>API4:2023 - Unrestricted Resource Consumption</vt:lpstr>
      <vt:lpstr>Apresentação do PowerPoint</vt:lpstr>
      <vt:lpstr>Apresentação do PowerPoint</vt:lpstr>
      <vt:lpstr>API4:2023 - Unrestricted Resource Consumption</vt:lpstr>
      <vt:lpstr>API4:2023 - Unrestricted Resource Consumption</vt:lpstr>
      <vt:lpstr>API5:2023 - Broken Function Level Authorization (BFLA)</vt:lpstr>
      <vt:lpstr>API5:2023 - Broken Function Level Authorization (BFLA)</vt:lpstr>
      <vt:lpstr>API9:2023 - Improper Inventory Management</vt:lpstr>
      <vt:lpstr>API10:2023 - Unsafe Consumption of APIs</vt:lpstr>
      <vt:lpstr>API10:2023 - Unsafe Consumption of APIs</vt:lpstr>
      <vt:lpstr>OWASP GenAI LLM Top 10 2026</vt:lpstr>
      <vt:lpstr>LLM01: Prompt Injection</vt:lpstr>
      <vt:lpstr>LLM01: Prompt Injection</vt:lpstr>
      <vt:lpstr>LLM01: Prompt Injection</vt:lpstr>
      <vt:lpstr>LLM02:2026 Sensitive Information Disclosure</vt:lpstr>
      <vt:lpstr>LLM02:2026 Sensitive Information Disclosure</vt:lpstr>
      <vt:lpstr>Algumas conclusões...</vt:lpstr>
      <vt:lpstr>Algumas conclusões...</vt:lpstr>
      <vt:lpstr>Muito 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Renato Groffe</dc:creator>
  <dc:description/>
  <cp:lastModifiedBy>Renato Groffe</cp:lastModifiedBy>
  <cp:revision>41</cp:revision>
  <dcterms:modified xsi:type="dcterms:W3CDTF">2026-10-13T10:55:18Z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Apresentação na tela (16:9)</vt:lpwstr>
  </property>
  <property fmtid="{D5CDD505-2E9C-101B-9397-08002B2CF9AE}" pid="4" name="Slides">
    <vt:i4>16</vt:i4>
  </property>
</Properties>
</file>